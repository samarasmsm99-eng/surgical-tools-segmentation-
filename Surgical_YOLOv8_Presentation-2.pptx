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E3347"/>
          </a:solidFill>
          <a:ln w="12700">
            <a:solidFill>
              <a:srgbClr val="0E3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36576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32918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Tools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YOLOv8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PROJECT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0" y="1005840"/>
            <a:ext cx="4480560" cy="68580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00584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051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0" y="1298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Ammar  |  Mustafa Nabil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4480560" cy="68580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92024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965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0" y="2212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Section 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2834640"/>
            <a:ext cx="4480560" cy="68580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283464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880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0" y="31272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Al-Farabi University College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9120" y="3749040"/>
            <a:ext cx="4480560" cy="68580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374904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794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0" y="40416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2024–2025  •  Al-Farabi University College  •  Baghdad, Iraq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182880"/>
            <a:ext cx="1097280" cy="1097280"/>
          </a:xfrm>
          <a:prstGeom prst="ellipse">
            <a:avLst/>
          </a:prstGeom>
          <a:solidFill>
            <a:srgbClr val="00F5D4">
              <a:alpha val="20000"/>
            </a:srgbClr>
          </a:solidFill>
          <a:ln w="12700">
            <a:solidFill>
              <a:srgbClr val="00F5D4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3347"/>
          </a:solidFill>
          <a:ln w="12700">
            <a:solidFill>
              <a:srgbClr val="0E3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"/>
            <a:ext cx="36576" cy="365760"/>
          </a:xfrm>
          <a:prstGeom prst="rect">
            <a:avLst/>
          </a:prstGeom>
          <a:solidFill>
            <a:srgbClr val="8BBDD9"/>
          </a:solidFill>
          <a:ln w="12700">
            <a:solidFill>
              <a:srgbClr val="8BBD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251960" cy="169164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4251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01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Tool Identification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16916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surgeons by automatically identifying surgical instruments in real-time laparoscopic video.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97280"/>
            <a:ext cx="4251960" cy="169164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09160" y="1097280"/>
            <a:ext cx="4251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80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46320" y="16916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pixel-level segmentation using YOLOv8-Nano (yolov8n-seg) for precise tool masking.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74320" y="2971800"/>
            <a:ext cx="4251960" cy="169164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4320" y="2971800"/>
            <a:ext cx="4251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546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3108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11480" y="35661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sub-5ms inference speed suitable for live medical applications in operating rooms.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09160" y="2971800"/>
            <a:ext cx="4251960" cy="169164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709160" y="2971800"/>
            <a:ext cx="4251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546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3108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Study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846320" y="35661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performance at 640px vs 320px input resolutions via ablation experiments.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3347"/>
          </a:solidFill>
          <a:ln w="12700">
            <a:solidFill>
              <a:srgbClr val="0E3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"/>
            <a:ext cx="36576" cy="365760"/>
          </a:xfrm>
          <a:prstGeom prst="rect">
            <a:avLst/>
          </a:prstGeom>
          <a:solidFill>
            <a:srgbClr val="8BBDD9"/>
          </a:solidFill>
          <a:ln w="12700">
            <a:solidFill>
              <a:srgbClr val="8BBD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(Roboflow API)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4572000" cy="658368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197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4538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CholecSeg8k — 12 specialized surgical classes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947672"/>
            <a:ext cx="4572000" cy="658368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30552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002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2585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Universe (public, version-controlled)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52344"/>
            <a:ext cx="4572000" cy="658368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935224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807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30632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download via Roboflow Python 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557016"/>
            <a:ext cx="4572000" cy="658368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739896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611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38679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segmentation format (polygon masks)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1051560"/>
            <a:ext cx="3749040" cy="3611880"/>
          </a:xfrm>
          <a:prstGeom prst="rect">
            <a:avLst/>
          </a:prstGeom>
          <a:solidFill>
            <a:srgbClr val="061A2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1051560"/>
            <a:ext cx="3749040" cy="32004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0698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— Roboflow API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57800" y="143560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roboflow import Roboflow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57800" y="181965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= Roboflow(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57800" y="20116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api_key="YOUR_KEY"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57800" y="220370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57800" y="25877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= rf.workspace(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57800" y="277977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"workspace-name"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57800" y="297180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).project(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57800" y="316382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"cholec-seg-8k-instance"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57800" y="335584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57800" y="37398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= project.version(1)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57800" y="39319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= version.download(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57800" y="412394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"yolov8"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57800" y="431596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3347"/>
          </a:solidFill>
          <a:ln w="12700">
            <a:solidFill>
              <a:srgbClr val="0E3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"/>
            <a:ext cx="36576" cy="365760"/>
          </a:xfrm>
          <a:prstGeom prst="rect">
            <a:avLst/>
          </a:prstGeom>
          <a:solidFill>
            <a:srgbClr val="8BBDD9"/>
          </a:solidFill>
          <a:ln w="12700">
            <a:solidFill>
              <a:srgbClr val="8BBD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Hardware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743200" cy="128016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5156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43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GPU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1755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Tesla (15 GB VRAM)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051560"/>
            <a:ext cx="2743200" cy="128016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1051560"/>
            <a:ext cx="2743200" cy="54864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143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19272" y="1755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Language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81344" y="1051560"/>
            <a:ext cx="2743200" cy="128016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1344" y="1051560"/>
            <a:ext cx="27432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1143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72784" y="1755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CUDA 12.8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14600"/>
            <a:ext cx="8595360" cy="68580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514600"/>
            <a:ext cx="54864" cy="685800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78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YOLOv8  —  Fast, state-of-the-art object detection &amp; segmentation library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8595360" cy="1371600"/>
          </a:xfrm>
          <a:prstGeom prst="rect">
            <a:avLst/>
          </a:prstGeom>
          <a:solidFill>
            <a:srgbClr val="061A2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337560"/>
            <a:ext cx="8595360" cy="292608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3558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 Output — Environment Verification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6850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Ultralytics 8.4.41 🚀 Python-3.12.13 torch-2.10.0+cu128 CUDA:0 (Tesla T4, 14913MiB)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069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BD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GPU detected  •  ✓ VRAM sufficient for YOLOv8  •  ✓ CUDA acceleration active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3347"/>
          </a:solidFill>
          <a:ln w="12700">
            <a:solidFill>
              <a:srgbClr val="0E3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"/>
            <a:ext cx="36576" cy="365760"/>
          </a:xfrm>
          <a:prstGeom prst="rect">
            <a:avLst/>
          </a:prstGeom>
          <a:solidFill>
            <a:srgbClr val="8BBDD9"/>
          </a:solidFill>
          <a:ln w="12700">
            <a:solidFill>
              <a:srgbClr val="8BBD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Path Configuration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8595360" cy="54864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52728"/>
            <a:ext cx="237744" cy="2377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1704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path updating for training and validation sets using Python's YAML parser.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8595360" cy="54864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911096"/>
            <a:ext cx="237744" cy="2377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8288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data consistency within the Google Colab environment after API download.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14016"/>
            <a:ext cx="8595360" cy="54864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569464"/>
            <a:ext cx="237744" cy="2377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487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hard-coded paths — automatically resolves correct directory structure.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127248"/>
            <a:ext cx="8595360" cy="1600200"/>
          </a:xfrm>
          <a:prstGeom prst="rect">
            <a:avLst/>
          </a:prstGeom>
          <a:solidFill>
            <a:srgbClr val="061A2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127248"/>
            <a:ext cx="8595360" cy="292608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14553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— data.yaml Path Updater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4747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yaml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8404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open(dataset.location + '/data.yaml', 'r') as f: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0233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yaml.safe_load(f)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3891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data['train'] = '/content/cholec-seg-8k-instance-1/train/images'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5720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data['val']   = '/content/cholec-seg-8k-instance-1/valid/images'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3347"/>
          </a:solidFill>
          <a:ln w="12700">
            <a:solidFill>
              <a:srgbClr val="0E3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"/>
            <a:ext cx="36576" cy="365760"/>
          </a:xfrm>
          <a:prstGeom prst="rect">
            <a:avLst/>
          </a:prstGeom>
          <a:solidFill>
            <a:srgbClr val="8BBDD9"/>
          </a:solidFill>
          <a:ln w="12700">
            <a:solidFill>
              <a:srgbClr val="8BBD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 — Baseline Configuration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1965960" cy="164592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51560"/>
            <a:ext cx="1965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430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YOLOv8n-seg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" y="2057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— lightest segmentation variant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1051560"/>
            <a:ext cx="1965960" cy="164592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051560"/>
            <a:ext cx="196596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1430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96312" y="14173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px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96312" y="2057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resolution for baseline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6864" y="1051560"/>
            <a:ext cx="1965960" cy="164592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051560"/>
            <a:ext cx="196596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11430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72584" y="14173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72584" y="2057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duration (baseline)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03136" y="1051560"/>
            <a:ext cx="1965960" cy="164592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1051560"/>
            <a:ext cx="1965960" cy="54864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11430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48856" y="14173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CUDA:0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48856" y="2057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Tesla T4 GPU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1920240"/>
          </a:xfrm>
          <a:prstGeom prst="rect">
            <a:avLst/>
          </a:prstGeom>
          <a:solidFill>
            <a:srgbClr val="061A2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852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— Training Call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31821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35295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BD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YOLO('yolov8n-seg.pt')  # Load pre-trained nano model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387705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model.train(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40507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 = dataset.location + '/data.yaml',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42245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epochs= 15,    imgsz = 640,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4398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device= 0,     name  = 'baseline_run'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" y="45720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3347"/>
          </a:solidFill>
          <a:ln w="12700">
            <a:solidFill>
              <a:srgbClr val="0E3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"/>
            <a:ext cx="36576" cy="365760"/>
          </a:xfrm>
          <a:prstGeom prst="rect">
            <a:avLst/>
          </a:prstGeom>
          <a:solidFill>
            <a:srgbClr val="8BBDD9"/>
          </a:solidFill>
          <a:ln w="12700">
            <a:solidFill>
              <a:srgbClr val="8BBD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 — The Success 🏆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" y="1024128"/>
            <a:ext cx="2011680" cy="146304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024128"/>
            <a:ext cx="20116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115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ACCURACY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28600" y="135331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mAP₅₀ (Masks)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95728" y="1024128"/>
            <a:ext cx="2011680" cy="146304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95728" y="1024128"/>
            <a:ext cx="2011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41448" y="1115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441448" y="135331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 ms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41448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08576" y="1024128"/>
            <a:ext cx="2011680" cy="146304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1024128"/>
            <a:ext cx="201168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4296" y="1115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CAPABLE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654296" y="135331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~344 FPS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54296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21424" y="1024128"/>
            <a:ext cx="2011680" cy="146304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21424" y="1024128"/>
            <a:ext cx="2011680" cy="54864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67144" y="1115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DETECTION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867144" y="135331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67144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606040"/>
            <a:ext cx="8595360" cy="2926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633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Full Validation Results (all classes)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898648"/>
            <a:ext cx="8595360" cy="292608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926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0120" y="2926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00200" y="292608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377440" y="292608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154680" y="2926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794760" y="2926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(Box)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09160" y="29260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 (Box)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60720" y="2926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(Mask)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75120" y="29260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 (Mask)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3191256"/>
            <a:ext cx="8595360" cy="347472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60120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1424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600200" y="3227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14513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377440" y="3227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154680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794760" y="3227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09160" y="32278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0.633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760720" y="3227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75120" y="32278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0.819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3630168"/>
            <a:ext cx="8595360" cy="621792"/>
          </a:xfrm>
          <a:prstGeom prst="rect">
            <a:avLst/>
          </a:prstGeom>
          <a:solidFill>
            <a:srgbClr val="0D3D1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657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Outcome: The model achieves exceptional real-time performance (344 FPS) with high segmentation accuracy (mAP₅₀ = 0.819), making it highly suitable for live intraoperative use.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3347"/>
          </a:solidFill>
          <a:ln w="12700">
            <a:solidFill>
              <a:srgbClr val="0E3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"/>
            <a:ext cx="36576" cy="365760"/>
          </a:xfrm>
          <a:prstGeom prst="rect">
            <a:avLst/>
          </a:prstGeom>
          <a:solidFill>
            <a:srgbClr val="8BBDD9"/>
          </a:solidFill>
          <a:ln w="12700">
            <a:solidFill>
              <a:srgbClr val="8BBD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— Resolution Impact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251960" cy="150876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24128"/>
            <a:ext cx="425196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(640px)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42646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mAP₅₀ — Mask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24128"/>
            <a:ext cx="4251960" cy="150876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024128"/>
            <a:ext cx="4251960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155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(320px)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42646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0.707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46320" y="21214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mAP₅₀ — Mask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1417320"/>
            <a:ext cx="2194560" cy="685800"/>
          </a:xfrm>
          <a:prstGeom prst="rect">
            <a:avLst/>
          </a:prstGeom>
          <a:solidFill>
            <a:srgbClr val="3D1A0D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1444752"/>
            <a:ext cx="2103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13.4%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accuracy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670048"/>
            <a:ext cx="8595360" cy="59436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" y="2825496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2724912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resolution (640px) preserves fine instrument edges critical for mask precision.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8595360" cy="59436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" y="3538728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438144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resolution (320px) causes significant feature loss in thin surgical tools.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096512"/>
            <a:ext cx="8595360" cy="59436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3192" y="4251960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151376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13.4% accuracy drop confirms 640px as the minimum recommended resolution.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3347"/>
          </a:solidFill>
          <a:ln w="12700">
            <a:solidFill>
              <a:srgbClr val="0E3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"/>
            <a:ext cx="36576" cy="365760"/>
          </a:xfrm>
          <a:prstGeom prst="rect">
            <a:avLst/>
          </a:prstGeom>
          <a:solidFill>
            <a:srgbClr val="8BBDD9"/>
          </a:solidFill>
          <a:ln w="12700">
            <a:solidFill>
              <a:srgbClr val="8BBD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GitHub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8595360" cy="100584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61288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0789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" y="1417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code, training weights, and project documentation publicly hosted for transparency and reproducibility.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2176272"/>
            <a:ext cx="4160520" cy="100584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2176272"/>
            <a:ext cx="4160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40487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" y="22677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68680" y="263347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commented Python notebook (.ipynb) with all training and evaluation steps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17720" y="2176272"/>
            <a:ext cx="4160520" cy="100584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17720" y="2176272"/>
            <a:ext cx="4160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40487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12080" y="22677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212080" y="263347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best.pt and last.pt weights included for direct inference use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74320" y="3319272"/>
            <a:ext cx="4160520" cy="100584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74320" y="3319272"/>
            <a:ext cx="4160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54787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8680" y="34107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Results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68680" y="377647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run configs and metrics for 640px vs 320px resolution comparison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617720" y="3319272"/>
            <a:ext cx="4160520" cy="1005840"/>
          </a:xfrm>
          <a:prstGeom prst="rect">
            <a:avLst/>
          </a:prstGeom>
          <a:solidFill>
            <a:srgbClr val="0D3347"/>
          </a:solidFill>
          <a:ln w="12700">
            <a:solidFill>
              <a:srgbClr val="1A4A6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617720" y="3319272"/>
            <a:ext cx="4160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3547872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12080" y="34107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212080" y="377647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Loss, mAP, precision, recall plots exported from TensorBoard logs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F17"/>
          </a:solidFill>
          <a:ln w="12700">
            <a:solidFill>
              <a:srgbClr val="040F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0F5D4">
              <a:alpha val="12000"/>
            </a:srgbClr>
          </a:solidFill>
          <a:ln w="12700">
            <a:solidFill>
              <a:srgbClr val="00F5D4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Surgical Tools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with YOLOv8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700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3264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mAP₅₀ Mask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26700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344 FPS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14600" y="3264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26700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3264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Classes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26700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29400" y="3264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84448"/>
            <a:ext cx="8229600" cy="36576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YOLOv8-Nano successfully demonstrates that lightweight models can achieve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relevant accuracy and speed for real-time surgical assistance.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Al-Farabi University College  •  Stage 3, Section B  •  2024–2025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Surgical Tools Segmentation using YOLOv8</dc:title>
  <dc:subject>PptxGenJS Presentation</dc:subject>
  <dc:creator>PptxGenJS</dc:creator>
  <cp:lastModifiedBy>PptxGenJS</cp:lastModifiedBy>
  <cp:revision>1</cp:revision>
  <dcterms:created xsi:type="dcterms:W3CDTF">2026-04-23T09:57:51Z</dcterms:created>
  <dcterms:modified xsi:type="dcterms:W3CDTF">2026-04-23T09:57:51Z</dcterms:modified>
</cp:coreProperties>
</file>